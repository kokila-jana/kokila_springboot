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7" r:id="rId5"/>
    <p:sldId id="268" r:id="rId6"/>
    <p:sldId id="258" r:id="rId7"/>
    <p:sldId id="259" r:id="rId8"/>
    <p:sldId id="260" r:id="rId9"/>
    <p:sldId id="261" r:id="rId10"/>
    <p:sldId id="262" r:id="rId11"/>
    <p:sldId id="271" r:id="rId12"/>
    <p:sldId id="269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63" r:id="rId24"/>
    <p:sldId id="264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65" r:id="rId36"/>
    <p:sldId id="292" r:id="rId37"/>
    <p:sldId id="293" r:id="rId38"/>
    <p:sldId id="294" r:id="rId39"/>
    <p:sldId id="295" r:id="rId40"/>
    <p:sldId id="296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6D65D-6960-FCB4-B3E6-837A72C5B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0C91DA-956E-C826-5C52-425A340880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74A02-6B07-5E38-6C8B-43E00218A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B548B-5D35-BFE3-7699-A5A30936E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7F83CE-1631-472F-8B01-A58122789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5610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9B3B0-375D-6041-6639-BD1F798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F7E22-D941-E08C-ABB0-34F7ED04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F08FD-8FAA-6895-3BE1-7F0B18E8F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203FC5-FF03-6E28-572D-FDFF05F93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6ADBB-E751-CF06-9F37-FACEBFEAD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9899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416E4-539E-A966-FFDE-1070EDD5D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27184-9740-FA4B-D8F9-6FFAF847D5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F8BDA3-7497-BB74-D20F-337C6361B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516E8F-983E-AEA9-1EBB-E7A396B48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661C69-9287-F61E-D6BE-87570627C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7885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D5BA8-19B3-A1C4-AEA6-E4E886691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E4B4C-3CCC-8CED-A512-22C267E6F9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9E872F-ED08-3658-8F13-6A25B7943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2E6D29-4D9B-BA27-2620-690EB38BB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4CA7FF-D5FD-ADF8-03F2-C8013D2D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F98D37-4CF0-B5B2-64A9-E28AACBA0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0319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FEC22-ACD7-D5CC-0B0F-75DEC4A0D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3D59D-BA48-73D1-EE48-8D6C54716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599DE-ED2B-830C-1E60-3FA87F297C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202F25-FAE4-1D00-28C7-37E2F81F1F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738117-9B6E-9B21-710C-6B5BE833F0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264FF0-33DF-2765-DA43-7C406AF2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532264-0187-53FA-B242-49D263B04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ECAAE5-5982-7961-77CA-AB3891519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4727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7C379-05F9-7CEF-08E2-360774A0A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AD5B95-FA03-2A40-42F4-9D6CB61E5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9E065F-33BC-E9D8-42A0-8A15797F9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7D16DF-A4DA-2BAB-4952-C3DBB38A3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253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37CE25-7EB1-0E3F-DE34-03BC0FB2F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C3501F-5FE5-0AAD-A55B-67C385321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3275E-E720-DD45-A526-427C7E8CF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5520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AEB05-740A-8D08-B201-584C4D912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5AF470-83CF-9F94-DD4C-405858E813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5B5365-68BF-F4E9-90B2-4B4BDB0A1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DD931C-3269-9B4F-8FE5-4A9B4A0AE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6177C1-0291-FE39-0C0F-C0A7435C5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6D8381-A848-51BF-11AF-761E10C7A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5287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E069-4C01-816F-AF71-949539EAD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C9EA89-4D6B-F016-A51D-4A738B9322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D6318A-1E66-E665-819B-0F562434FE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434997-3FAF-3F55-880E-E1469E1C3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61140A-38C4-99F6-5BCA-26AF5C6A4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EBC1A1-774F-CA0D-80FB-C0D1808B2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4016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E0504-C750-C540-3A2F-899C71EC8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34948B-E168-9913-850E-6EC9177842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0C984E-F6AF-A0C6-9EAA-74D4A8F4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4C696-FDAC-6BD7-065C-837024B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CF7A44-7D23-6A20-EA1F-B685C3CAF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7054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E450DC-D132-A3E7-EDAF-B7279B6883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60980F-4E7B-74ED-25D1-F0D637990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89AC4D-0518-2F2C-17B2-19C6FBAB3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D858B-E4BC-8266-F3D0-040C3C65D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8E1DA-FD6D-D67B-2B54-5BC100A4A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9299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AFDF34-0A67-DE1E-FE60-62C2516FA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01BA9-8B67-8C64-2B91-998471C332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1F801-2EB9-7FA9-4F46-58E27766F3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C352D6-35B8-4C99-98A7-B8D1DDADD3E7}" type="datetimeFigureOut">
              <a:rPr lang="en-IN" smtClean="0"/>
              <a:t>28-04-2026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FB7CB-B47A-FBE0-D8DD-08DFF31C9D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DD152-3D53-AC3A-8081-13F4F00332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1E71C-2D9A-4FF8-AA38-DABA3D4333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7424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AC01-1733-0108-760A-58EE9CB85A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Advanced Java</a:t>
            </a:r>
          </a:p>
        </p:txBody>
      </p:sp>
    </p:spTree>
    <p:extLst>
      <p:ext uri="{BB962C8B-B14F-4D97-AF65-F5344CB8AC3E}">
        <p14:creationId xmlns:p14="http://schemas.microsoft.com/office/powerpoint/2010/main" val="3613059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42049-AE02-D1BB-8A59-5C9F9FA67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is XML ?</a:t>
            </a:r>
          </a:p>
          <a:p>
            <a:pPr marL="0" indent="0">
              <a:buNone/>
            </a:pPr>
            <a:r>
              <a:rPr lang="en-US" dirty="0"/>
              <a:t>XML (</a:t>
            </a:r>
            <a:r>
              <a:rPr lang="en-US" dirty="0" err="1"/>
              <a:t>eXtensible</a:t>
            </a:r>
            <a:r>
              <a:rPr lang="en-US" dirty="0"/>
              <a:t> Markup Language) is just a structured way to store and transport data.</a:t>
            </a:r>
          </a:p>
          <a:p>
            <a:pPr marL="0" indent="0">
              <a:buNone/>
            </a:pPr>
            <a:r>
              <a:rPr lang="en-US" dirty="0"/>
              <a:t>XML is a markup language much like HTML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&lt;user&gt;</a:t>
            </a:r>
            <a:br>
              <a:rPr lang="en-US" dirty="0"/>
            </a:br>
            <a:r>
              <a:rPr lang="en-US" dirty="0"/>
              <a:t>    &lt;id&gt;1&lt;/id&gt;</a:t>
            </a:r>
            <a:br>
              <a:rPr lang="en-US" dirty="0"/>
            </a:br>
            <a:r>
              <a:rPr lang="en-US" dirty="0"/>
              <a:t>    &lt;name&gt;John&lt;/name&gt;</a:t>
            </a:r>
            <a:br>
              <a:rPr lang="en-US" dirty="0"/>
            </a:br>
            <a:r>
              <a:rPr lang="en-US" dirty="0"/>
              <a:t>&lt;/user&gt;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4829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C9F18-2D16-396D-BA14-2AB3D959A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287" y="478172"/>
            <a:ext cx="10779852" cy="5698791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XML Does Not Use Predefined Tags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The XML language has no predefined tags.</a:t>
            </a:r>
          </a:p>
          <a:p>
            <a:pPr>
              <a:lnSpc>
                <a:spcPct val="150000"/>
              </a:lnSpc>
            </a:pPr>
            <a:r>
              <a:rPr lang="en-US" dirty="0"/>
              <a:t>HTML works with predefined tags like &lt;p&gt;, &lt;h1&gt;, &lt;table&gt;, etc.</a:t>
            </a:r>
          </a:p>
          <a:p>
            <a:pPr>
              <a:lnSpc>
                <a:spcPct val="150000"/>
              </a:lnSpc>
            </a:pPr>
            <a:r>
              <a:rPr lang="en-US" dirty="0"/>
              <a:t>With XML, the author must define both the tags and the document structure.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683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598D0-9B20-1630-06E2-F933A0704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AFCD3-029B-27BC-C841-4DAAA14A14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287" y="478172"/>
            <a:ext cx="10779852" cy="5698791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Key Features of XML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Self-descriptive</a:t>
            </a:r>
            <a:r>
              <a:rPr lang="en-US" dirty="0"/>
              <a:t> → You can understand the data just by looking at it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Custom tags</a:t>
            </a:r>
            <a:r>
              <a:rPr lang="en-US" dirty="0"/>
              <a:t> → You create your own tags (unlike HTML)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Platform-independent</a:t>
            </a:r>
            <a:r>
              <a:rPr lang="en-US" dirty="0"/>
              <a:t> → Works everywhere (apps, web, databases)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Hierarchical structure</a:t>
            </a:r>
            <a:r>
              <a:rPr lang="en-US" dirty="0"/>
              <a:t> → Like a tree (parent → child)</a:t>
            </a:r>
          </a:p>
          <a:p>
            <a:pPr marL="0" indent="0">
              <a:lnSpc>
                <a:spcPct val="150000"/>
              </a:lnSpc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4577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2EB02-681C-0F98-6C05-6C4158E0E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2348D-3665-9035-388C-66119E9F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287" y="478172"/>
            <a:ext cx="10779852" cy="5698791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Rules of XML</a:t>
            </a:r>
          </a:p>
          <a:p>
            <a:r>
              <a:rPr lang="en-US" dirty="0"/>
              <a:t>Every tag must have a closing tag</a:t>
            </a:r>
          </a:p>
          <a:p>
            <a:r>
              <a:rPr lang="en-IN" dirty="0"/>
              <a:t>Tags are case-sensitive</a:t>
            </a:r>
          </a:p>
          <a:p>
            <a:r>
              <a:rPr lang="en-US" dirty="0"/>
              <a:t>Must have one root element</a:t>
            </a:r>
          </a:p>
          <a:p>
            <a:r>
              <a:rPr lang="en-IN" dirty="0"/>
              <a:t>Proper nesting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2103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136E1-8B77-5437-F66D-AB3E44564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69413-BA01-7362-30E3-671277A2F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How to create new Project </a:t>
            </a:r>
          </a:p>
          <a:p>
            <a:pPr marL="0" indent="0">
              <a:buNone/>
            </a:pPr>
            <a:r>
              <a:rPr lang="en-IN" dirty="0"/>
              <a:t>In eclipse IDE </a:t>
            </a:r>
          </a:p>
          <a:p>
            <a:pPr marL="0" indent="0">
              <a:buNone/>
            </a:pPr>
            <a:r>
              <a:rPr lang="en-IN" dirty="0" err="1"/>
              <a:t>File</a:t>
            </a:r>
            <a:r>
              <a:rPr lang="en-IN" dirty="0" err="1">
                <a:sym typeface="Wingdings" panose="05000000000000000000" pitchFamily="2" charset="2"/>
              </a:rPr>
              <a:t>newDynamic</a:t>
            </a:r>
            <a:r>
              <a:rPr lang="en-IN" dirty="0">
                <a:sym typeface="Wingdings" panose="05000000000000000000" pitchFamily="2" charset="2"/>
              </a:rPr>
              <a:t> web project</a:t>
            </a:r>
          </a:p>
          <a:p>
            <a:pPr marL="0" indent="0">
              <a:buNone/>
            </a:pPr>
            <a:r>
              <a:rPr lang="en-IN" dirty="0">
                <a:sym typeface="Wingdings" panose="05000000000000000000" pitchFamily="2" charset="2"/>
              </a:rPr>
              <a:t> project name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F610FA-1920-6273-5200-735791A03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519" y="252294"/>
            <a:ext cx="5402510" cy="607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215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B87FE-768A-AEE5-AC26-4F0DA357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10F28-74EB-C658-AE88-0DFA4D840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Then to create your first XML file in that project..</a:t>
            </a:r>
          </a:p>
          <a:p>
            <a:pPr marL="0" indent="0">
              <a:buNone/>
            </a:pPr>
            <a:r>
              <a:rPr lang="en-IN" dirty="0"/>
              <a:t>To right click in Webapp </a:t>
            </a:r>
            <a:r>
              <a:rPr lang="en-IN" dirty="0">
                <a:sym typeface="Wingdings" panose="05000000000000000000" pitchFamily="2" charset="2"/>
              </a:rPr>
              <a:t>to create new </a:t>
            </a:r>
            <a:r>
              <a:rPr lang="en-IN" dirty="0" err="1">
                <a:sym typeface="Wingdings" panose="05000000000000000000" pitchFamily="2" charset="2"/>
              </a:rPr>
              <a:t>othersxml</a:t>
            </a:r>
            <a:r>
              <a:rPr lang="en-IN" dirty="0">
                <a:sym typeface="Wingdings" panose="05000000000000000000" pitchFamily="2" charset="2"/>
              </a:rPr>
              <a:t> file</a:t>
            </a: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721758-1077-0B73-682B-4FF8C425D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892" y="1951815"/>
            <a:ext cx="2765770" cy="27175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1B6EDF-049C-E0B6-C2D1-D21D02053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034" y="1660708"/>
            <a:ext cx="4900085" cy="4778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348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E348-202D-BCDD-42B7-B592B6993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987A-D590-4A15-3BCE-79FAB248D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r>
              <a:rPr lang="en-IN" dirty="0"/>
              <a:t>First XML code and To start the server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950F0-5605-237B-8190-C4FB87911E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25" y="1210366"/>
            <a:ext cx="9528412" cy="5077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167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5729D-C5BB-5E5D-E1EC-EC7D09C71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A2B23-5B72-620D-BEB2-5F69BDF781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After start the server, to run the XML file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103463-62DE-C34F-7EFF-9985B9B92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055" y="1275127"/>
            <a:ext cx="10729890" cy="4630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925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80CD7-DBD8-6D26-DDE2-B91B701F8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6023C7-39B3-56C7-BCF3-18BB9B7FF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To create html file also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937615-6D91-A408-C95D-3D0438EA15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34712"/>
            <a:ext cx="9757095" cy="525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494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0BBFC-554F-5F13-FC9B-F80AC330B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44CC0-414F-05A9-0894-DDD30F727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32" y="662730"/>
            <a:ext cx="10780552" cy="5522622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The XML output is..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021A77-03AD-40F5-40AF-94A3DF307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11" y="1141401"/>
            <a:ext cx="10669898" cy="5053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72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CA5EC-B032-8230-36A2-3FD8C22FE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6C28F-6CF5-91A3-1019-8C37CA3CD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287" y="478172"/>
            <a:ext cx="10779852" cy="5698791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What is a DOM Parser?</a:t>
            </a:r>
          </a:p>
          <a:p>
            <a:pPr>
              <a:lnSpc>
                <a:spcPct val="150000"/>
              </a:lnSpc>
            </a:pPr>
            <a:r>
              <a:rPr lang="en-US" dirty="0"/>
              <a:t>A </a:t>
            </a:r>
            <a:r>
              <a:rPr lang="en-US" b="1" dirty="0"/>
              <a:t>DOM Parser (Document Object Model Parser)</a:t>
            </a:r>
            <a:r>
              <a:rPr lang="en-US" dirty="0"/>
              <a:t> is a tool that:</a:t>
            </a:r>
          </a:p>
          <a:p>
            <a:pPr>
              <a:lnSpc>
                <a:spcPct val="150000"/>
              </a:lnSpc>
            </a:pPr>
            <a:r>
              <a:rPr lang="en-US" dirty="0"/>
              <a:t> </a:t>
            </a:r>
            <a:r>
              <a:rPr lang="en-US" b="1" dirty="0"/>
              <a:t>Reads XML (or HTML)</a:t>
            </a:r>
          </a:p>
          <a:p>
            <a:pPr>
              <a:lnSpc>
                <a:spcPct val="150000"/>
              </a:lnSpc>
            </a:pPr>
            <a:r>
              <a:rPr lang="en-US" dirty="0"/>
              <a:t> </a:t>
            </a:r>
            <a:r>
              <a:rPr lang="en-US" b="1" dirty="0"/>
              <a:t>Converts it into a tree structure in memory</a:t>
            </a:r>
          </a:p>
          <a:p>
            <a:pPr>
              <a:lnSpc>
                <a:spcPct val="150000"/>
              </a:lnSpc>
            </a:pPr>
            <a:r>
              <a:rPr lang="en-US" dirty="0"/>
              <a:t> Lets you </a:t>
            </a:r>
            <a:r>
              <a:rPr lang="en-US" b="1" dirty="0"/>
              <a:t>access and modify data easily</a:t>
            </a: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68870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0316A-E34F-7EC3-C5A3-81E4A391F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AC3BC-7D5C-6563-8E5C-92C95D853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32" y="662730"/>
            <a:ext cx="10780552" cy="5522622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The DOM parser in HTML</a:t>
            </a:r>
          </a:p>
          <a:p>
            <a:pPr marL="0" indent="0">
              <a:buNone/>
            </a:pPr>
            <a:r>
              <a:rPr lang="en-IN" dirty="0"/>
              <a:t>To create HTML file is</a:t>
            </a:r>
          </a:p>
          <a:p>
            <a:pPr marL="0" indent="0">
              <a:buNone/>
            </a:pPr>
            <a:r>
              <a:rPr lang="en-IN" dirty="0" err="1"/>
              <a:t>Projectname</a:t>
            </a:r>
            <a:r>
              <a:rPr lang="en-IN" dirty="0" err="1">
                <a:sym typeface="Wingdings" panose="05000000000000000000" pitchFamily="2" charset="2"/>
              </a:rPr>
              <a:t>right</a:t>
            </a:r>
            <a:r>
              <a:rPr lang="en-IN" dirty="0">
                <a:sym typeface="Wingdings" panose="05000000000000000000" pitchFamily="2" charset="2"/>
              </a:rPr>
              <a:t> </a:t>
            </a:r>
            <a:r>
              <a:rPr lang="en-IN" dirty="0" err="1">
                <a:sym typeface="Wingdings" panose="05000000000000000000" pitchFamily="2" charset="2"/>
              </a:rPr>
              <a:t>clicksrcWebapprightclickhtml</a:t>
            </a:r>
            <a:r>
              <a:rPr lang="en-IN" dirty="0">
                <a:sym typeface="Wingdings" panose="05000000000000000000" pitchFamily="2" charset="2"/>
              </a:rPr>
              <a:t> file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505C80-950F-5C80-8880-7F5F547E5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736" y="2239861"/>
            <a:ext cx="7852095" cy="441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585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3E2F8-A811-E78E-E537-4F27812B3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25A5A7-1055-BBFF-D5E0-667339F09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32" y="620785"/>
            <a:ext cx="10780552" cy="556456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b="1" dirty="0"/>
              <a:t>Example HTML code</a:t>
            </a:r>
          </a:p>
          <a:p>
            <a:pPr marL="0" indent="0">
              <a:buNone/>
            </a:pPr>
            <a:r>
              <a:rPr lang="en-IN" dirty="0"/>
              <a:t>&lt;h1 id=</a:t>
            </a:r>
            <a:r>
              <a:rPr lang="en-IN" i="1" dirty="0"/>
              <a:t>"demo"</a:t>
            </a:r>
            <a:r>
              <a:rPr lang="en-IN" dirty="0"/>
              <a:t>&gt;&lt;/h1&gt;</a:t>
            </a:r>
          </a:p>
          <a:p>
            <a:pPr marL="0" indent="0">
              <a:buNone/>
            </a:pPr>
            <a:r>
              <a:rPr lang="en-IN" dirty="0"/>
              <a:t>&lt;script&gt;</a:t>
            </a:r>
          </a:p>
          <a:p>
            <a:pPr marL="0" indent="0">
              <a:buNone/>
            </a:pPr>
            <a:r>
              <a:rPr lang="en-IN" b="1" dirty="0"/>
              <a:t>var</a:t>
            </a:r>
            <a:r>
              <a:rPr lang="en-IN" dirty="0"/>
              <a:t> z, </a:t>
            </a:r>
            <a:r>
              <a:rPr lang="en-IN" dirty="0" err="1"/>
              <a:t>Doct,text</a:t>
            </a:r>
            <a:r>
              <a:rPr lang="en-IN" dirty="0"/>
              <a:t>;</a:t>
            </a:r>
          </a:p>
          <a:p>
            <a:pPr marL="0" indent="0">
              <a:buNone/>
            </a:pPr>
            <a:r>
              <a:rPr lang="en-IN" dirty="0"/>
              <a:t>z=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DOMParser</a:t>
            </a:r>
            <a:r>
              <a:rPr lang="en-IN" dirty="0"/>
              <a:t>();//</a:t>
            </a:r>
          </a:p>
          <a:p>
            <a:pPr marL="0" indent="0">
              <a:buNone/>
            </a:pPr>
            <a:r>
              <a:rPr lang="en-IN" dirty="0"/>
              <a:t>text="&lt;college&gt;&lt;student&gt;"+</a:t>
            </a:r>
          </a:p>
          <a:p>
            <a:pPr marL="0" indent="0">
              <a:buNone/>
            </a:pPr>
            <a:r>
              <a:rPr lang="en-IN" dirty="0"/>
              <a:t>"&lt;name&gt;Anup&lt;/name&gt;"+"&lt;email&gt;anupgmail.com&lt;/email&gt;"+"&lt;/student&gt;"+</a:t>
            </a:r>
          </a:p>
          <a:p>
            <a:pPr marL="0" indent="0">
              <a:buNone/>
            </a:pPr>
            <a:r>
              <a:rPr lang="en-IN" dirty="0"/>
              <a:t>"&lt;student&gt;"+</a:t>
            </a:r>
          </a:p>
          <a:p>
            <a:pPr marL="0" indent="0">
              <a:buNone/>
            </a:pPr>
            <a:r>
              <a:rPr lang="en-IN" dirty="0"/>
              <a:t>"&lt;name&gt;</a:t>
            </a:r>
            <a:r>
              <a:rPr lang="en-IN" dirty="0" err="1"/>
              <a:t>kokila</a:t>
            </a:r>
            <a:r>
              <a:rPr lang="en-IN" dirty="0"/>
              <a:t>&lt;/name&gt;"+"&lt;email&gt;abc@gmail.com&lt;/email&gt;"+"&lt;/student&gt;&lt;/college&gt;";</a:t>
            </a:r>
          </a:p>
          <a:p>
            <a:pPr marL="0" indent="0">
              <a:buNone/>
            </a:pPr>
            <a:r>
              <a:rPr lang="en-IN" dirty="0" err="1"/>
              <a:t>Doct</a:t>
            </a:r>
            <a:r>
              <a:rPr lang="en-IN" dirty="0"/>
              <a:t>=</a:t>
            </a:r>
            <a:r>
              <a:rPr lang="en-IN" dirty="0" err="1"/>
              <a:t>z.parseFromString</a:t>
            </a:r>
            <a:r>
              <a:rPr lang="en-IN" dirty="0"/>
              <a:t>(text, "text/xml");</a:t>
            </a:r>
            <a:br>
              <a:rPr lang="en-IN" dirty="0"/>
            </a:br>
            <a:endParaRPr lang="en-IN" dirty="0"/>
          </a:p>
          <a:p>
            <a:pPr marL="0" indent="0">
              <a:buNone/>
            </a:pPr>
            <a:r>
              <a:rPr lang="en-IN" dirty="0" err="1"/>
              <a:t>document.getElementById</a:t>
            </a:r>
            <a:r>
              <a:rPr lang="en-IN" dirty="0"/>
              <a:t>("demo").</a:t>
            </a:r>
            <a:r>
              <a:rPr lang="en-IN" dirty="0" err="1"/>
              <a:t>innerHTML</a:t>
            </a:r>
            <a:r>
              <a:rPr lang="en-IN" dirty="0"/>
              <a:t>=</a:t>
            </a:r>
          </a:p>
          <a:p>
            <a:pPr marL="0" indent="0">
              <a:buNone/>
            </a:pPr>
            <a:r>
              <a:rPr lang="en-IN" dirty="0" err="1"/>
              <a:t>Doct.getElementsByTagName</a:t>
            </a:r>
            <a:r>
              <a:rPr lang="en-IN" dirty="0"/>
              <a:t>("name")[1].</a:t>
            </a:r>
            <a:r>
              <a:rPr lang="en-IN" dirty="0" err="1"/>
              <a:t>childNodes</a:t>
            </a:r>
            <a:r>
              <a:rPr lang="en-IN" dirty="0"/>
              <a:t>[0].</a:t>
            </a:r>
            <a:r>
              <a:rPr lang="en-IN" dirty="0" err="1"/>
              <a:t>nodeValue</a:t>
            </a:r>
            <a:r>
              <a:rPr lang="en-IN" dirty="0"/>
              <a:t>;</a:t>
            </a:r>
          </a:p>
          <a:p>
            <a:pPr marL="0" indent="0">
              <a:buNone/>
            </a:pPr>
            <a:r>
              <a:rPr lang="en-IN" dirty="0"/>
              <a:t>&lt;/script&gt;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8512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4C16A-8A4D-9AF4-2C47-E5AF98F7A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B90CB-A088-69EA-F11C-2F13EFFD6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32" y="662730"/>
            <a:ext cx="10780552" cy="5522622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How to create java file</a:t>
            </a:r>
          </a:p>
          <a:p>
            <a:pPr marL="0" indent="0">
              <a:buNone/>
            </a:pPr>
            <a:r>
              <a:rPr lang="en-IN" dirty="0" err="1"/>
              <a:t>Project</a:t>
            </a:r>
            <a:r>
              <a:rPr lang="en-IN" dirty="0" err="1">
                <a:sym typeface="Wingdings" panose="05000000000000000000" pitchFamily="2" charset="2"/>
              </a:rPr>
              <a:t>doubleclickjava</a:t>
            </a:r>
            <a:r>
              <a:rPr lang="en-IN" dirty="0">
                <a:sym typeface="Wingdings" panose="05000000000000000000" pitchFamily="2" charset="2"/>
              </a:rPr>
              <a:t> </a:t>
            </a:r>
            <a:r>
              <a:rPr lang="en-IN" dirty="0" err="1">
                <a:sym typeface="Wingdings" panose="05000000000000000000" pitchFamily="2" charset="2"/>
              </a:rPr>
              <a:t>resourcesdoubleclicksrc</a:t>
            </a:r>
            <a:r>
              <a:rPr lang="en-IN" dirty="0">
                <a:sym typeface="Wingdings" panose="05000000000000000000" pitchFamily="2" charset="2"/>
              </a:rPr>
              <a:t>/main/java</a:t>
            </a:r>
          </a:p>
          <a:p>
            <a:pPr marL="0" indent="0">
              <a:buNone/>
            </a:pPr>
            <a:r>
              <a:rPr lang="en-IN" dirty="0" err="1">
                <a:sym typeface="Wingdings" panose="05000000000000000000" pitchFamily="2" charset="2"/>
              </a:rPr>
              <a:t>rightclicknewpackagegive</a:t>
            </a:r>
            <a:r>
              <a:rPr lang="en-IN" dirty="0">
                <a:sym typeface="Wingdings" panose="05000000000000000000" pitchFamily="2" charset="2"/>
              </a:rPr>
              <a:t> package </a:t>
            </a:r>
            <a:r>
              <a:rPr lang="en-IN" dirty="0" err="1">
                <a:sym typeface="Wingdings" panose="05000000000000000000" pitchFamily="2" charset="2"/>
              </a:rPr>
              <a:t>namefinish</a:t>
            </a:r>
            <a:endParaRPr lang="en-IN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IN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IN" dirty="0" err="1">
                <a:sym typeface="Wingdings" panose="05000000000000000000" pitchFamily="2" charset="2"/>
              </a:rPr>
              <a:t>Packagenamerightclicknewclassclass</a:t>
            </a:r>
            <a:r>
              <a:rPr lang="en-IN" dirty="0">
                <a:sym typeface="Wingdings" panose="05000000000000000000" pitchFamily="2" charset="2"/>
              </a:rPr>
              <a:t> </a:t>
            </a:r>
            <a:r>
              <a:rPr lang="en-IN" dirty="0" err="1">
                <a:sym typeface="Wingdings" panose="05000000000000000000" pitchFamily="2" charset="2"/>
              </a:rPr>
              <a:t>name,main</a:t>
            </a:r>
            <a:r>
              <a:rPr lang="en-IN" dirty="0">
                <a:sym typeface="Wingdings" panose="05000000000000000000" pitchFamily="2" charset="2"/>
              </a:rPr>
              <a:t> function</a:t>
            </a:r>
          </a:p>
          <a:p>
            <a:pPr marL="0" indent="0">
              <a:buNone/>
            </a:pPr>
            <a:r>
              <a:rPr lang="en-IN" dirty="0">
                <a:sym typeface="Wingdings" panose="05000000000000000000" pitchFamily="2" charset="2"/>
              </a:rPr>
              <a:t>Finish.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1175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53796-66CB-D7DB-9880-D2CE0BE2C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0ED9BF-223E-E828-07DA-395BE7F3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32" y="662730"/>
            <a:ext cx="10780552" cy="5522622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IN" b="1" dirty="0"/>
              <a:t>XML  DTDs</a:t>
            </a:r>
          </a:p>
          <a:p>
            <a:pPr>
              <a:lnSpc>
                <a:spcPct val="150000"/>
              </a:lnSpc>
            </a:pPr>
            <a:r>
              <a:rPr lang="en-US" dirty="0"/>
              <a:t>DTD specifies the legal building blocks of XML. It defines elements, attributes, and their relationships, ensuring the XML document follows a valid structure.</a:t>
            </a:r>
          </a:p>
          <a:p>
            <a:pPr>
              <a:lnSpc>
                <a:spcPct val="150000"/>
              </a:lnSpc>
            </a:pPr>
            <a:r>
              <a:rPr lang="en-US" dirty="0"/>
              <a:t> It tells:</a:t>
            </a:r>
          </a:p>
          <a:p>
            <a:pPr>
              <a:lnSpc>
                <a:spcPct val="150000"/>
              </a:lnSpc>
            </a:pPr>
            <a:r>
              <a:rPr lang="en-US" dirty="0"/>
              <a:t>Which elements are allowed </a:t>
            </a:r>
          </a:p>
          <a:p>
            <a:pPr>
              <a:lnSpc>
                <a:spcPct val="150000"/>
              </a:lnSpc>
            </a:pPr>
            <a:r>
              <a:rPr lang="en-US" dirty="0"/>
              <a:t>The order of elements </a:t>
            </a:r>
          </a:p>
          <a:p>
            <a:pPr>
              <a:lnSpc>
                <a:spcPct val="150000"/>
              </a:lnSpc>
            </a:pPr>
            <a:r>
              <a:rPr lang="en-US" dirty="0"/>
              <a:t>What data they contain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2568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347E0-F90F-F8E5-523A-3BB10E725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548AA-7116-A54A-72A2-CF58DFCF80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32" y="662730"/>
            <a:ext cx="10780552" cy="552262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b="1" dirty="0"/>
              <a:t>Normal code</a:t>
            </a:r>
          </a:p>
          <a:p>
            <a:pPr marL="0" indent="0">
              <a:buNone/>
            </a:pPr>
            <a:r>
              <a:rPr lang="en-IN" dirty="0"/>
              <a:t>&lt;student&gt;</a:t>
            </a:r>
          </a:p>
          <a:p>
            <a:pPr marL="0" indent="0">
              <a:buNone/>
            </a:pPr>
            <a:r>
              <a:rPr lang="en-IN" dirty="0"/>
              <a:t>    &lt;name&gt;Kokila&lt;/name&gt;</a:t>
            </a:r>
          </a:p>
          <a:p>
            <a:pPr marL="0" indent="0">
              <a:buNone/>
            </a:pPr>
            <a:r>
              <a:rPr lang="en-IN" dirty="0"/>
              <a:t>    &lt;age&gt;25&lt;/age&gt;</a:t>
            </a:r>
          </a:p>
          <a:p>
            <a:pPr marL="0" indent="0">
              <a:buNone/>
            </a:pPr>
            <a:r>
              <a:rPr lang="en-IN" dirty="0"/>
              <a:t>&lt;/student&gt;</a:t>
            </a:r>
          </a:p>
          <a:p>
            <a:pPr marL="0" indent="0">
              <a:buNone/>
            </a:pPr>
            <a:r>
              <a:rPr lang="en-IN" b="1" dirty="0"/>
              <a:t>DTD for this code</a:t>
            </a:r>
          </a:p>
          <a:p>
            <a:pPr marL="0" indent="0">
              <a:buNone/>
            </a:pPr>
            <a:r>
              <a:rPr lang="en-US" dirty="0"/>
              <a:t>&lt;!DOCTYPE student [</a:t>
            </a:r>
          </a:p>
          <a:p>
            <a:pPr marL="0" indent="0">
              <a:buNone/>
            </a:pPr>
            <a:r>
              <a:rPr lang="en-US" dirty="0"/>
              <a:t>  &lt;!ELEMENT student (name, age)&gt;</a:t>
            </a:r>
          </a:p>
          <a:p>
            <a:pPr marL="0" indent="0">
              <a:buNone/>
            </a:pPr>
            <a:r>
              <a:rPr lang="en-US" dirty="0"/>
              <a:t> &lt;!ELEMENT name (#PCDATA)&gt;</a:t>
            </a:r>
            <a:br>
              <a:rPr lang="en-US" dirty="0"/>
            </a:br>
            <a:r>
              <a:rPr lang="en-US" dirty="0"/>
              <a:t>&lt;!ELEMENT age (#PCDATA)&gt;   ]&gt;</a:t>
            </a:r>
          </a:p>
          <a:p>
            <a:pPr marL="0" indent="0">
              <a:buNone/>
            </a:pPr>
            <a:r>
              <a:rPr lang="en-IN" dirty="0"/>
              <a:t>&lt;student&gt;</a:t>
            </a:r>
          </a:p>
          <a:p>
            <a:pPr marL="0" indent="0">
              <a:buNone/>
            </a:pPr>
            <a:r>
              <a:rPr lang="en-IN" dirty="0"/>
              <a:t>    &lt;name&gt;Kokila&lt;/name&gt;</a:t>
            </a:r>
          </a:p>
          <a:p>
            <a:pPr marL="0" indent="0">
              <a:buNone/>
            </a:pPr>
            <a:r>
              <a:rPr lang="en-IN" dirty="0"/>
              <a:t>    &lt;age&gt;25&lt;/age&gt;</a:t>
            </a:r>
          </a:p>
          <a:p>
            <a:pPr marL="0" indent="0">
              <a:buNone/>
            </a:pPr>
            <a:r>
              <a:rPr lang="en-IN" dirty="0"/>
              <a:t>&lt;/student&gt;</a:t>
            </a:r>
          </a:p>
        </p:txBody>
      </p:sp>
    </p:spTree>
    <p:extLst>
      <p:ext uri="{BB962C8B-B14F-4D97-AF65-F5344CB8AC3E}">
        <p14:creationId xmlns:p14="http://schemas.microsoft.com/office/powerpoint/2010/main" val="38542664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D0873-74A3-0036-FE54-5927B8A5A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50B96-E537-DEE2-6CFC-14A0BF42D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508" y="536895"/>
            <a:ext cx="10838576" cy="564845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IN" dirty="0"/>
              <a:t>Explanation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&lt;!DOCTYPE student&gt; → root element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&lt;!ELEMENT student (name, age)&gt;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 student must contain name and age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#PCDATA → Parsed Character Data (text)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7315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3711F-C198-B749-6FEB-0BC9EFEC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68516-0894-DAC2-AB09-F447ECEB0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32" y="662730"/>
            <a:ext cx="10780552" cy="5522622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IN" b="1" dirty="0"/>
              <a:t>XML Schema (XSD)</a:t>
            </a:r>
          </a:p>
          <a:p>
            <a:pPr>
              <a:lnSpc>
                <a:spcPct val="150000"/>
              </a:lnSpc>
            </a:pPr>
            <a:r>
              <a:rPr lang="en-US" b="1" dirty="0"/>
              <a:t>XML Schema (XSD)</a:t>
            </a:r>
            <a:r>
              <a:rPr lang="en-US" dirty="0"/>
              <a:t> is used to </a:t>
            </a:r>
            <a:r>
              <a:rPr lang="en-US" b="1" dirty="0"/>
              <a:t>define the structure and data types of an XML document</a:t>
            </a:r>
            <a:r>
              <a:rPr lang="en-US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 It is more powerful than DTD because it can validate:</a:t>
            </a:r>
          </a:p>
          <a:p>
            <a:pPr>
              <a:lnSpc>
                <a:spcPct val="150000"/>
              </a:lnSpc>
            </a:pPr>
            <a:r>
              <a:rPr lang="en-US" dirty="0"/>
              <a:t>Elements </a:t>
            </a:r>
          </a:p>
          <a:p>
            <a:pPr>
              <a:lnSpc>
                <a:spcPct val="150000"/>
              </a:lnSpc>
            </a:pPr>
            <a:r>
              <a:rPr lang="en-US" dirty="0"/>
              <a:t>Attributes </a:t>
            </a:r>
          </a:p>
          <a:p>
            <a:pPr>
              <a:lnSpc>
                <a:spcPct val="150000"/>
              </a:lnSpc>
            </a:pPr>
            <a:r>
              <a:rPr lang="en-US" dirty="0"/>
              <a:t>Data types (int, string, date, etc.)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4503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4F46F-FCA3-FA7E-3CEC-78B9AD1A1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9EF7E-189E-3646-B42C-5DD06FE4F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32" y="662730"/>
            <a:ext cx="10780552" cy="5522622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Example:</a:t>
            </a:r>
          </a:p>
          <a:p>
            <a:pPr marL="0" indent="0">
              <a:buNone/>
            </a:pPr>
            <a:r>
              <a:rPr lang="en-IN" dirty="0"/>
              <a:t>&lt;?xml version="1.0" encoding="UTF-8"?&gt;</a:t>
            </a:r>
          </a:p>
          <a:p>
            <a:pPr marL="0" indent="0">
              <a:buNone/>
            </a:pPr>
            <a:r>
              <a:rPr lang="en-IN" dirty="0"/>
              <a:t>&lt;</a:t>
            </a:r>
            <a:r>
              <a:rPr lang="en-IN" dirty="0" err="1"/>
              <a:t>xs:element</a:t>
            </a:r>
            <a:r>
              <a:rPr lang="en-IN" dirty="0"/>
              <a:t> name="college"&gt;</a:t>
            </a:r>
          </a:p>
          <a:p>
            <a:pPr marL="0" indent="0">
              <a:buNone/>
            </a:pPr>
            <a:r>
              <a:rPr lang="en-IN" dirty="0"/>
              <a:t>	&lt;</a:t>
            </a:r>
            <a:r>
              <a:rPr lang="en-IN" dirty="0" err="1"/>
              <a:t>xs:student</a:t>
            </a:r>
            <a:r>
              <a:rPr lang="en-IN" dirty="0"/>
              <a:t>&gt;</a:t>
            </a:r>
          </a:p>
          <a:p>
            <a:pPr marL="0" indent="0">
              <a:buNone/>
            </a:pPr>
            <a:r>
              <a:rPr lang="en-IN" dirty="0"/>
              <a:t>		&lt;</a:t>
            </a:r>
            <a:r>
              <a:rPr lang="en-IN" dirty="0" err="1"/>
              <a:t>xs:element</a:t>
            </a:r>
            <a:r>
              <a:rPr lang="en-IN" dirty="0"/>
              <a:t> name="name" type="</a:t>
            </a:r>
            <a:r>
              <a:rPr lang="en-IN" dirty="0" err="1"/>
              <a:t>xs:string</a:t>
            </a:r>
            <a:r>
              <a:rPr lang="en-IN" dirty="0"/>
              <a:t>"/&gt;</a:t>
            </a:r>
          </a:p>
          <a:p>
            <a:pPr marL="0" indent="0">
              <a:buNone/>
            </a:pPr>
            <a:r>
              <a:rPr lang="en-IN" dirty="0"/>
              <a:t>		&lt;</a:t>
            </a:r>
            <a:r>
              <a:rPr lang="en-IN" dirty="0" err="1"/>
              <a:t>xs:element</a:t>
            </a:r>
            <a:r>
              <a:rPr lang="en-IN" dirty="0"/>
              <a:t> name="email" type="</a:t>
            </a:r>
            <a:r>
              <a:rPr lang="en-IN" dirty="0" err="1"/>
              <a:t>xs:string</a:t>
            </a:r>
            <a:r>
              <a:rPr lang="en-IN" dirty="0"/>
              <a:t>"/&gt;</a:t>
            </a:r>
          </a:p>
          <a:p>
            <a:pPr marL="0" indent="0">
              <a:buNone/>
            </a:pPr>
            <a:r>
              <a:rPr lang="en-IN" dirty="0"/>
              <a:t>	&lt;/</a:t>
            </a:r>
            <a:r>
              <a:rPr lang="en-IN" dirty="0" err="1"/>
              <a:t>xs:student</a:t>
            </a:r>
            <a:r>
              <a:rPr lang="en-IN" dirty="0"/>
              <a:t>&gt;</a:t>
            </a:r>
          </a:p>
          <a:p>
            <a:pPr marL="0" indent="0">
              <a:buNone/>
            </a:pPr>
            <a:r>
              <a:rPr lang="en-IN" dirty="0"/>
              <a:t>&lt;/</a:t>
            </a:r>
            <a:r>
              <a:rPr lang="en-IN" dirty="0" err="1"/>
              <a:t>xs:element</a:t>
            </a:r>
            <a:r>
              <a:rPr lang="en-IN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3759907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24C43-CAB1-C81E-38AB-D799923B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8B656-E83C-20C3-50BF-FAB34397D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32" y="662730"/>
            <a:ext cx="10780552" cy="5522622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IN" b="1" dirty="0"/>
              <a:t>Web Applications</a:t>
            </a:r>
          </a:p>
          <a:p>
            <a:pPr>
              <a:lnSpc>
                <a:spcPct val="150000"/>
              </a:lnSpc>
            </a:pPr>
            <a:r>
              <a:rPr lang="en-US" dirty="0"/>
              <a:t>A web application is a client-server based application that runs on a web server and is accessed through a browser.</a:t>
            </a:r>
          </a:p>
          <a:p>
            <a:pPr>
              <a:lnSpc>
                <a:spcPct val="150000"/>
              </a:lnSpc>
            </a:pPr>
            <a:r>
              <a:rPr lang="en-US" dirty="0"/>
              <a:t> It consists of frontend, backend, and database components.</a:t>
            </a:r>
          </a:p>
          <a:p>
            <a:pPr>
              <a:lnSpc>
                <a:spcPct val="150000"/>
              </a:lnSpc>
            </a:pPr>
            <a:r>
              <a:rPr lang="en-US" dirty="0"/>
              <a:t>Examples we already use:</a:t>
            </a:r>
          </a:p>
          <a:p>
            <a:pPr>
              <a:lnSpc>
                <a:spcPct val="150000"/>
              </a:lnSpc>
            </a:pPr>
            <a:r>
              <a:rPr lang="en-US" dirty="0"/>
              <a:t>Gmail </a:t>
            </a:r>
          </a:p>
          <a:p>
            <a:pPr>
              <a:lnSpc>
                <a:spcPct val="150000"/>
              </a:lnSpc>
            </a:pPr>
            <a:r>
              <a:rPr lang="en-US" dirty="0"/>
              <a:t>Facebook </a:t>
            </a:r>
          </a:p>
          <a:p>
            <a:pPr>
              <a:lnSpc>
                <a:spcPct val="150000"/>
              </a:lnSpc>
            </a:pPr>
            <a:r>
              <a:rPr lang="en-US" dirty="0"/>
              <a:t>Amazon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44354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F7495-85E3-F69C-6782-84F1ECD9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2A53F-F715-F1A4-E36B-D612D1E94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32" y="662730"/>
            <a:ext cx="10780552" cy="552262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IN" b="1" dirty="0"/>
              <a:t>How a Web Application Works</a:t>
            </a:r>
          </a:p>
          <a:p>
            <a:pPr>
              <a:lnSpc>
                <a:spcPct val="100000"/>
              </a:lnSpc>
            </a:pPr>
            <a:r>
              <a:rPr lang="en-IN" dirty="0"/>
              <a:t>User opens browser (Chrome, Edge, etc.) </a:t>
            </a:r>
          </a:p>
          <a:p>
            <a:pPr>
              <a:lnSpc>
                <a:spcPct val="100000"/>
              </a:lnSpc>
            </a:pPr>
            <a:r>
              <a:rPr lang="en-IN" dirty="0"/>
              <a:t>Sends request to server </a:t>
            </a:r>
          </a:p>
          <a:p>
            <a:pPr>
              <a:lnSpc>
                <a:spcPct val="100000"/>
              </a:lnSpc>
            </a:pPr>
            <a:r>
              <a:rPr lang="en-IN" dirty="0"/>
              <a:t>Server processes request </a:t>
            </a:r>
          </a:p>
          <a:p>
            <a:pPr>
              <a:lnSpc>
                <a:spcPct val="100000"/>
              </a:lnSpc>
            </a:pPr>
            <a:r>
              <a:rPr lang="en-IN" dirty="0"/>
              <a:t>Server sends response (HTML page) </a:t>
            </a:r>
          </a:p>
          <a:p>
            <a:pPr>
              <a:lnSpc>
                <a:spcPct val="100000"/>
              </a:lnSpc>
            </a:pPr>
            <a:r>
              <a:rPr lang="en-IN" dirty="0"/>
              <a:t>Browser displays output </a:t>
            </a:r>
          </a:p>
          <a:p>
            <a:pPr marL="0" indent="0">
              <a:lnSpc>
                <a:spcPct val="100000"/>
              </a:lnSpc>
              <a:buNone/>
            </a:pPr>
            <a:endParaRPr lang="en-IN" dirty="0"/>
          </a:p>
          <a:p>
            <a:pPr marL="0" indent="0">
              <a:lnSpc>
                <a:spcPct val="100000"/>
              </a:lnSpc>
              <a:buNone/>
            </a:pPr>
            <a:r>
              <a:rPr lang="en-IN" dirty="0"/>
              <a:t>This is called </a:t>
            </a:r>
            <a:r>
              <a:rPr lang="en-IN" b="1" dirty="0"/>
              <a:t>Client–Server Architecture</a:t>
            </a:r>
            <a:endParaRPr lang="en-IN" dirty="0"/>
          </a:p>
          <a:p>
            <a:pPr marL="0" indent="0">
              <a:lnSpc>
                <a:spcPct val="100000"/>
              </a:lnSpc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8836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65EF8-976B-22B2-0B81-40DA0FDC2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6C3F52-259B-6BFE-5CA9-820C3AB73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For Example:</a:t>
            </a:r>
          </a:p>
          <a:p>
            <a:pPr marL="0" indent="0">
              <a:buNone/>
            </a:pPr>
            <a:r>
              <a:rPr lang="en-US" dirty="0"/>
              <a:t>Login to a website:</a:t>
            </a:r>
          </a:p>
          <a:p>
            <a:r>
              <a:rPr lang="en-US" dirty="0"/>
              <a:t>You enter username/password </a:t>
            </a:r>
          </a:p>
          <a:p>
            <a:r>
              <a:rPr lang="en-US" dirty="0"/>
              <a:t>Data goes to server </a:t>
            </a:r>
          </a:p>
          <a:p>
            <a:r>
              <a:rPr lang="en-US" dirty="0"/>
              <a:t>Server checks database </a:t>
            </a:r>
          </a:p>
          <a:p>
            <a:r>
              <a:rPr lang="en-US" dirty="0"/>
              <a:t>Sends success/failure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95497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ED50-C948-9388-DD75-43B3F23B0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40E21-0BC4-C38A-C050-363F307A8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Features of Web Applications</a:t>
            </a:r>
          </a:p>
          <a:p>
            <a:pPr>
              <a:lnSpc>
                <a:spcPct val="100000"/>
              </a:lnSpc>
            </a:pPr>
            <a:r>
              <a:rPr lang="en-US" dirty="0"/>
              <a:t>Accessible anywhere (internet required) </a:t>
            </a:r>
          </a:p>
          <a:p>
            <a:pPr>
              <a:lnSpc>
                <a:spcPct val="100000"/>
              </a:lnSpc>
            </a:pPr>
            <a:r>
              <a:rPr lang="en-US" dirty="0"/>
              <a:t>No installation needed </a:t>
            </a:r>
          </a:p>
          <a:p>
            <a:pPr>
              <a:lnSpc>
                <a:spcPct val="100000"/>
              </a:lnSpc>
            </a:pPr>
            <a:r>
              <a:rPr lang="en-US" dirty="0"/>
              <a:t>Platform independent </a:t>
            </a:r>
          </a:p>
          <a:p>
            <a:pPr>
              <a:lnSpc>
                <a:spcPct val="100000"/>
              </a:lnSpc>
            </a:pPr>
            <a:r>
              <a:rPr lang="en-US" dirty="0"/>
              <a:t>Easy to update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Disadvantages</a:t>
            </a:r>
          </a:p>
          <a:p>
            <a:pPr>
              <a:lnSpc>
                <a:spcPct val="100000"/>
              </a:lnSpc>
            </a:pPr>
            <a:r>
              <a:rPr lang="en-US" dirty="0"/>
              <a:t>Needs internet </a:t>
            </a:r>
          </a:p>
          <a:p>
            <a:pPr>
              <a:lnSpc>
                <a:spcPct val="100000"/>
              </a:lnSpc>
            </a:pPr>
            <a:r>
              <a:rPr lang="en-US" dirty="0"/>
              <a:t>Security risks </a:t>
            </a:r>
          </a:p>
          <a:p>
            <a:pPr>
              <a:lnSpc>
                <a:spcPct val="100000"/>
              </a:lnSpc>
            </a:pPr>
            <a:r>
              <a:rPr lang="en-US" dirty="0"/>
              <a:t>Can be slower than desktop app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895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1B042-51E3-7A0E-728C-171D4336C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B667D-B4F4-318C-E4A7-E9B0ECDAD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IN" b="1" dirty="0"/>
              <a:t>HTTP</a:t>
            </a:r>
          </a:p>
          <a:p>
            <a:pPr>
              <a:lnSpc>
                <a:spcPct val="150000"/>
              </a:lnSpc>
            </a:pPr>
            <a:r>
              <a:rPr lang="en-US" b="1" dirty="0"/>
              <a:t>HTTP</a:t>
            </a:r>
            <a:r>
              <a:rPr lang="en-US" dirty="0"/>
              <a:t> stands for </a:t>
            </a:r>
            <a:r>
              <a:rPr lang="en-US" b="1" dirty="0" err="1"/>
              <a:t>HyperText</a:t>
            </a:r>
            <a:r>
              <a:rPr lang="en-US" b="1" dirty="0"/>
              <a:t> Transfer Protocol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HTTP is a protocol used to transfer web pages and data between a client and a server over the internet.</a:t>
            </a:r>
          </a:p>
          <a:p>
            <a:pPr>
              <a:lnSpc>
                <a:spcPct val="150000"/>
              </a:lnSpc>
            </a:pPr>
            <a:r>
              <a:rPr lang="en-US" dirty="0"/>
              <a:t> It is a </a:t>
            </a:r>
            <a:r>
              <a:rPr lang="en-US" b="1" dirty="0"/>
              <a:t>communication protocol</a:t>
            </a:r>
            <a:r>
              <a:rPr lang="en-US" dirty="0"/>
              <a:t> used to transfer data between: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Client (browser)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Server (web server)</a:t>
            </a: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64765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D40A-AC47-6610-8AD4-2FBD5F853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6BB5E-7181-2225-528A-84DED7B2C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How HTTP Works</a:t>
            </a:r>
          </a:p>
          <a:p>
            <a:pPr>
              <a:lnSpc>
                <a:spcPct val="150000"/>
              </a:lnSpc>
            </a:pPr>
            <a:r>
              <a:rPr lang="en-US" dirty="0"/>
              <a:t>You open a website in browser </a:t>
            </a:r>
          </a:p>
          <a:p>
            <a:pPr>
              <a:lnSpc>
                <a:spcPct val="150000"/>
              </a:lnSpc>
            </a:pPr>
            <a:r>
              <a:rPr lang="en-US" dirty="0"/>
              <a:t>Browser sends an </a:t>
            </a:r>
            <a:r>
              <a:rPr lang="en-US" b="1" dirty="0"/>
              <a:t>HTTP Request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/>
              <a:t>Server processes it </a:t>
            </a:r>
          </a:p>
          <a:p>
            <a:pPr>
              <a:lnSpc>
                <a:spcPct val="150000"/>
              </a:lnSpc>
            </a:pPr>
            <a:r>
              <a:rPr lang="en-US" dirty="0"/>
              <a:t>Server sends an </a:t>
            </a:r>
            <a:r>
              <a:rPr lang="en-US" b="1" dirty="0"/>
              <a:t>HTTP Response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/>
              <a:t>Browser displays the page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88288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3588B-4441-D046-233C-0F4E2DC18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DD408-C99C-FFD5-6F0B-5E272A73E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HTTP Request</a:t>
            </a:r>
          </a:p>
          <a:p>
            <a:pPr>
              <a:lnSpc>
                <a:spcPct val="150000"/>
              </a:lnSpc>
            </a:pPr>
            <a:r>
              <a:rPr lang="en-US" dirty="0"/>
              <a:t>Sent by </a:t>
            </a:r>
            <a:r>
              <a:rPr lang="en-US" b="1" dirty="0"/>
              <a:t>client (browser)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/>
              <a:t>Contains:</a:t>
            </a:r>
          </a:p>
          <a:p>
            <a:pPr>
              <a:lnSpc>
                <a:spcPct val="150000"/>
              </a:lnSpc>
            </a:pPr>
            <a:r>
              <a:rPr lang="en-US" dirty="0"/>
              <a:t>Method (GET, POST, etc.) </a:t>
            </a:r>
          </a:p>
          <a:p>
            <a:pPr>
              <a:lnSpc>
                <a:spcPct val="150000"/>
              </a:lnSpc>
            </a:pPr>
            <a:r>
              <a:rPr lang="en-US" dirty="0"/>
              <a:t>URL </a:t>
            </a:r>
          </a:p>
          <a:p>
            <a:pPr>
              <a:lnSpc>
                <a:spcPct val="150000"/>
              </a:lnSpc>
            </a:pPr>
            <a:r>
              <a:rPr lang="en-US" dirty="0"/>
              <a:t>Headers </a:t>
            </a:r>
          </a:p>
          <a:p>
            <a:pPr>
              <a:lnSpc>
                <a:spcPct val="150000"/>
              </a:lnSpc>
            </a:pPr>
            <a:r>
              <a:rPr lang="en-US" dirty="0"/>
              <a:t>Body (optional)</a:t>
            </a:r>
          </a:p>
          <a:p>
            <a:pPr marL="0" indent="0">
              <a:buNone/>
            </a:pP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F1E90C8-7F6A-4FAA-789D-0A4705EC5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813813"/>
              </p:ext>
            </p:extLst>
          </p:nvPr>
        </p:nvGraphicFramePr>
        <p:xfrm>
          <a:off x="5192784" y="1619075"/>
          <a:ext cx="6161016" cy="2751590"/>
        </p:xfrm>
        <a:graphic>
          <a:graphicData uri="http://schemas.openxmlformats.org/drawingml/2006/table">
            <a:tbl>
              <a:tblPr/>
              <a:tblGrid>
                <a:gridCol w="3080508">
                  <a:extLst>
                    <a:ext uri="{9D8B030D-6E8A-4147-A177-3AD203B41FA5}">
                      <a16:colId xmlns:a16="http://schemas.microsoft.com/office/drawing/2014/main" val="260810012"/>
                    </a:ext>
                  </a:extLst>
                </a:gridCol>
                <a:gridCol w="3080508">
                  <a:extLst>
                    <a:ext uri="{9D8B030D-6E8A-4147-A177-3AD203B41FA5}">
                      <a16:colId xmlns:a16="http://schemas.microsoft.com/office/drawing/2014/main" val="306349147"/>
                    </a:ext>
                  </a:extLst>
                </a:gridCol>
              </a:tblGrid>
              <a:tr h="550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Method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1684930"/>
                  </a:ext>
                </a:extLst>
              </a:tr>
              <a:tr h="550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Get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9302775"/>
                  </a:ext>
                </a:extLst>
              </a:tr>
              <a:tr h="550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Send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3047711"/>
                  </a:ext>
                </a:extLst>
              </a:tr>
              <a:tr h="550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Update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0385336"/>
                  </a:ext>
                </a:extLst>
              </a:tr>
              <a:tr h="5503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DELETE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Delete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3224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57222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DED0-C02B-FCF2-D272-2E6D28953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60756-C150-6A0C-CD2D-E77AE61006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IN" b="1" dirty="0"/>
              <a:t>HTTP Response</a:t>
            </a:r>
          </a:p>
          <a:p>
            <a:pPr>
              <a:lnSpc>
                <a:spcPct val="150000"/>
              </a:lnSpc>
            </a:pPr>
            <a:r>
              <a:rPr lang="en-IN" dirty="0"/>
              <a:t>Sent by </a:t>
            </a:r>
            <a:r>
              <a:rPr lang="en-IN" b="1" dirty="0"/>
              <a:t>server</a:t>
            </a:r>
            <a:endParaRPr lang="en-IN" dirty="0"/>
          </a:p>
          <a:p>
            <a:pPr marL="0" indent="0">
              <a:lnSpc>
                <a:spcPct val="150000"/>
              </a:lnSpc>
              <a:buNone/>
            </a:pPr>
            <a:r>
              <a:rPr lang="en-IN" b="1" dirty="0"/>
              <a:t>Contains:</a:t>
            </a:r>
          </a:p>
          <a:p>
            <a:pPr>
              <a:lnSpc>
                <a:spcPct val="150000"/>
              </a:lnSpc>
            </a:pPr>
            <a:r>
              <a:rPr lang="en-IN" dirty="0"/>
              <a:t>Status code </a:t>
            </a:r>
          </a:p>
          <a:p>
            <a:pPr>
              <a:lnSpc>
                <a:spcPct val="150000"/>
              </a:lnSpc>
            </a:pPr>
            <a:r>
              <a:rPr lang="en-IN" dirty="0"/>
              <a:t>Headers </a:t>
            </a:r>
          </a:p>
          <a:p>
            <a:pPr>
              <a:lnSpc>
                <a:spcPct val="150000"/>
              </a:lnSpc>
            </a:pPr>
            <a:r>
              <a:rPr lang="en-IN" dirty="0"/>
              <a:t>Data (HTML, JSON, etc.)</a:t>
            </a:r>
          </a:p>
          <a:p>
            <a:pPr marL="0" indent="0">
              <a:buNone/>
            </a:pP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BD5B42C-ABBD-FF0F-A631-50279649ED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666791"/>
              </p:ext>
            </p:extLst>
          </p:nvPr>
        </p:nvGraphicFramePr>
        <p:xfrm>
          <a:off x="5444454" y="1963023"/>
          <a:ext cx="3355597" cy="2122416"/>
        </p:xfrm>
        <a:graphic>
          <a:graphicData uri="http://schemas.openxmlformats.org/drawingml/2006/table">
            <a:tbl>
              <a:tblPr/>
              <a:tblGrid>
                <a:gridCol w="1682962">
                  <a:extLst>
                    <a:ext uri="{9D8B030D-6E8A-4147-A177-3AD203B41FA5}">
                      <a16:colId xmlns:a16="http://schemas.microsoft.com/office/drawing/2014/main" val="780109628"/>
                    </a:ext>
                  </a:extLst>
                </a:gridCol>
                <a:gridCol w="1672635">
                  <a:extLst>
                    <a:ext uri="{9D8B030D-6E8A-4147-A177-3AD203B41FA5}">
                      <a16:colId xmlns:a16="http://schemas.microsoft.com/office/drawing/2014/main" val="4045863119"/>
                    </a:ext>
                  </a:extLst>
                </a:gridCol>
              </a:tblGrid>
              <a:tr h="530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5930709"/>
                  </a:ext>
                </a:extLst>
              </a:tr>
              <a:tr h="530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1265710"/>
                  </a:ext>
                </a:extLst>
              </a:tr>
              <a:tr h="530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404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Not Found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2780313"/>
                  </a:ext>
                </a:extLst>
              </a:tr>
              <a:tr h="530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Server Error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388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2376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A68E8-633E-6CBD-06A2-2D5A9EAA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D5E16-0C15-7E3F-E5F3-0F1729D41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Features of HTTP</a:t>
            </a:r>
          </a:p>
          <a:p>
            <a:r>
              <a:rPr lang="en-US" b="1" dirty="0"/>
              <a:t>Stateless</a:t>
            </a:r>
            <a:r>
              <a:rPr lang="en-US" dirty="0"/>
              <a:t> → each request is independent </a:t>
            </a:r>
          </a:p>
          <a:p>
            <a:r>
              <a:rPr lang="en-US" b="1" dirty="0"/>
              <a:t>Simple</a:t>
            </a:r>
            <a:r>
              <a:rPr lang="en-US" dirty="0"/>
              <a:t> → easy to use </a:t>
            </a:r>
          </a:p>
          <a:p>
            <a:r>
              <a:rPr lang="en-US" b="1" dirty="0"/>
              <a:t>Fast communication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IN" b="1" dirty="0"/>
              <a:t>HTTP vs HTTPS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AFA5C77-8E24-F570-5764-A24C55491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785668"/>
              </p:ext>
            </p:extLst>
          </p:nvPr>
        </p:nvGraphicFramePr>
        <p:xfrm>
          <a:off x="978017" y="3571777"/>
          <a:ext cx="5117983" cy="1956568"/>
        </p:xfrm>
        <a:graphic>
          <a:graphicData uri="http://schemas.openxmlformats.org/drawingml/2006/table">
            <a:tbl>
              <a:tblPr/>
              <a:tblGrid>
                <a:gridCol w="2643231">
                  <a:extLst>
                    <a:ext uri="{9D8B030D-6E8A-4147-A177-3AD203B41FA5}">
                      <a16:colId xmlns:a16="http://schemas.microsoft.com/office/drawing/2014/main" val="2632294185"/>
                    </a:ext>
                  </a:extLst>
                </a:gridCol>
                <a:gridCol w="2474752">
                  <a:extLst>
                    <a:ext uri="{9D8B030D-6E8A-4147-A177-3AD203B41FA5}">
                      <a16:colId xmlns:a16="http://schemas.microsoft.com/office/drawing/2014/main" val="1056364992"/>
                    </a:ext>
                  </a:extLst>
                </a:gridCol>
              </a:tblGrid>
              <a:tr h="4891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HTTP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HTTPS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911685"/>
                  </a:ext>
                </a:extLst>
              </a:tr>
              <a:tr h="4891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Not secure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Secure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6300307"/>
                  </a:ext>
                </a:extLst>
              </a:tr>
              <a:tr h="4891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 encryption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Uses encryption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004783"/>
                  </a:ext>
                </a:extLst>
              </a:tr>
              <a:tr h="4891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Uses port 80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Uses port 443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091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30848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ABE24-2299-6286-388C-194C50CBD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F0EC2-39DE-EE93-4292-B8442A52EE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IN" dirty="0"/>
              <a:t>Servlet</a:t>
            </a:r>
          </a:p>
          <a:p>
            <a:pPr>
              <a:lnSpc>
                <a:spcPct val="100000"/>
              </a:lnSpc>
            </a:pPr>
            <a:r>
              <a:rPr lang="en-IN" dirty="0"/>
              <a:t> </a:t>
            </a:r>
            <a:r>
              <a:rPr lang="en-US" dirty="0"/>
              <a:t>A </a:t>
            </a:r>
            <a:r>
              <a:rPr lang="en-US" b="1" dirty="0"/>
              <a:t>Servlet</a:t>
            </a:r>
            <a:r>
              <a:rPr lang="en-US" dirty="0"/>
              <a:t> is a </a:t>
            </a:r>
            <a:r>
              <a:rPr lang="en-US" b="1" dirty="0"/>
              <a:t>Java program that runs on a web server</a:t>
            </a:r>
            <a:r>
              <a:rPr lang="en-US" dirty="0"/>
              <a:t> and handles client requests and responses.</a:t>
            </a:r>
          </a:p>
          <a:p>
            <a:pPr>
              <a:lnSpc>
                <a:spcPct val="100000"/>
              </a:lnSpc>
            </a:pPr>
            <a:r>
              <a:rPr lang="en-US" dirty="0"/>
              <a:t>It is mainly used to create </a:t>
            </a:r>
            <a:r>
              <a:rPr lang="en-US" b="1" dirty="0"/>
              <a:t>dynamic web applications</a:t>
            </a:r>
            <a:r>
              <a:rPr lang="en-US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IN" b="1" dirty="0"/>
              <a:t>Servlet Architecture (Flow)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Browser → Web Server → Servlet → Database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                ←                      ←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              Response sent back</a:t>
            </a:r>
          </a:p>
          <a:p>
            <a:pPr marL="0" indent="0">
              <a:lnSpc>
                <a:spcPct val="100000"/>
              </a:lnSpc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40486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558FF-3266-C86C-4D12-2F93FBAA7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EF175-10CE-A91C-C7F8-9DFD2910D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How Servlet Works</a:t>
            </a:r>
          </a:p>
          <a:p>
            <a:pPr marL="0" indent="0">
              <a:buNone/>
            </a:pPr>
            <a:r>
              <a:rPr lang="en-IN" dirty="0"/>
              <a:t>Servlet follows the same </a:t>
            </a:r>
            <a:r>
              <a:rPr lang="en-IN" b="1" dirty="0"/>
              <a:t>HTTP request–response cycle</a:t>
            </a:r>
            <a:r>
              <a:rPr lang="en-IN" dirty="0"/>
              <a:t>:</a:t>
            </a:r>
          </a:p>
          <a:p>
            <a:r>
              <a:rPr lang="en-IN" dirty="0"/>
              <a:t>Client (browser) sends request </a:t>
            </a:r>
          </a:p>
          <a:p>
            <a:r>
              <a:rPr lang="en-IN" dirty="0"/>
              <a:t>Web server receives request </a:t>
            </a:r>
          </a:p>
          <a:p>
            <a:r>
              <a:rPr lang="en-IN" dirty="0"/>
              <a:t>Servlet processes it </a:t>
            </a:r>
          </a:p>
          <a:p>
            <a:r>
              <a:rPr lang="en-IN" dirty="0"/>
              <a:t>Servlet sends response </a:t>
            </a:r>
          </a:p>
          <a:p>
            <a:r>
              <a:rPr lang="en-IN" dirty="0"/>
              <a:t>Browser displays result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44125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7CA79-0170-7BC7-5305-B9BF4353F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645B7-3175-C385-F64B-F50F7E36C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IN" b="1" dirty="0"/>
              <a:t>Servlet Life Cycle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1. </a:t>
            </a:r>
            <a:r>
              <a:rPr lang="en-US" b="1" dirty="0" err="1"/>
              <a:t>init</a:t>
            </a:r>
            <a:r>
              <a:rPr lang="en-US" b="1" dirty="0"/>
              <a:t>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Called </a:t>
            </a:r>
            <a:r>
              <a:rPr lang="en-US" b="1" dirty="0"/>
              <a:t>once</a:t>
            </a:r>
            <a:r>
              <a:rPr lang="en-US" dirty="0"/>
              <a:t> when servlet is loaded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Used for initialization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2. service()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Called for </a:t>
            </a:r>
            <a:r>
              <a:rPr lang="en-US" b="1" dirty="0"/>
              <a:t>every request</a:t>
            </a:r>
            <a:r>
              <a:rPr lang="en-US" dirty="0"/>
              <a:t> (</a:t>
            </a:r>
            <a:r>
              <a:rPr lang="en-US" dirty="0" err="1"/>
              <a:t>doGet</a:t>
            </a:r>
            <a:r>
              <a:rPr lang="en-US" dirty="0"/>
              <a:t>()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IN" dirty="0"/>
              <a:t>Handle GET request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 err="1"/>
              <a:t>doPost</a:t>
            </a:r>
            <a:r>
              <a:rPr lang="en-US" dirty="0"/>
              <a:t>()</a:t>
            </a:r>
            <a:r>
              <a:rPr lang="en-US" dirty="0">
                <a:sym typeface="Wingdings" panose="05000000000000000000" pitchFamily="2" charset="2"/>
              </a:rPr>
              <a:t>Handle POST request</a:t>
            </a:r>
            <a:r>
              <a:rPr lang="en-US" dirty="0"/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Processes request and sends response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3. destroy()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Called when servlet is removed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Used for cleanup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44700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851C6-BD2E-A0CA-4886-C39AD8382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58438-0B8F-22F7-09BB-2AB924DD9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How to create servlet file in eclipse</a:t>
            </a:r>
          </a:p>
          <a:p>
            <a:pPr marL="0" indent="0">
              <a:buNone/>
            </a:pPr>
            <a:r>
              <a:rPr lang="en-IN" dirty="0" err="1"/>
              <a:t>Project</a:t>
            </a:r>
            <a:r>
              <a:rPr lang="en-IN" dirty="0" err="1">
                <a:sym typeface="Wingdings" panose="05000000000000000000" pitchFamily="2" charset="2"/>
              </a:rPr>
              <a:t>double</a:t>
            </a:r>
            <a:r>
              <a:rPr lang="en-IN" dirty="0">
                <a:sym typeface="Wingdings" panose="05000000000000000000" pitchFamily="2" charset="2"/>
              </a:rPr>
              <a:t> </a:t>
            </a:r>
            <a:r>
              <a:rPr lang="en-IN" dirty="0" err="1">
                <a:sym typeface="Wingdings" panose="05000000000000000000" pitchFamily="2" charset="2"/>
              </a:rPr>
              <a:t>clickJava</a:t>
            </a:r>
            <a:r>
              <a:rPr lang="en-IN" dirty="0">
                <a:sym typeface="Wingdings" panose="05000000000000000000" pitchFamily="2" charset="2"/>
              </a:rPr>
              <a:t> </a:t>
            </a:r>
            <a:r>
              <a:rPr lang="en-IN" dirty="0" err="1">
                <a:sym typeface="Wingdings" panose="05000000000000000000" pitchFamily="2" charset="2"/>
              </a:rPr>
              <a:t>resourcespackagenameright</a:t>
            </a:r>
            <a:r>
              <a:rPr lang="en-IN" dirty="0">
                <a:sym typeface="Wingdings" panose="05000000000000000000" pitchFamily="2" charset="2"/>
              </a:rPr>
              <a:t> click</a:t>
            </a:r>
          </a:p>
          <a:p>
            <a:pPr marL="0" indent="0">
              <a:buNone/>
            </a:pPr>
            <a:r>
              <a:rPr lang="en-IN" dirty="0" err="1">
                <a:sym typeface="Wingdings" panose="05000000000000000000" pitchFamily="2" charset="2"/>
              </a:rPr>
              <a:t>Newservlet</a:t>
            </a:r>
            <a:r>
              <a:rPr lang="en-IN" dirty="0">
                <a:sym typeface="Wingdings" panose="05000000000000000000" pitchFamily="2" charset="2"/>
              </a:rPr>
              <a:t> file.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5562CD-CE65-FCB3-4F12-CEE1128B2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6980" y="1770077"/>
            <a:ext cx="5469691" cy="4406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9892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0FBE5-CF84-9CE8-BC34-237598623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9E983-7E5B-EBF5-7E6D-3CCADF767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To give servlet file name </a:t>
            </a:r>
          </a:p>
          <a:p>
            <a:pPr marL="0" indent="0">
              <a:buNone/>
            </a:pPr>
            <a:r>
              <a:rPr lang="en-IN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3BEEE0-CCB6-6770-5D35-37D779CC0F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299" y="1132462"/>
            <a:ext cx="9539037" cy="5044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5428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FA738-76EC-D835-CEFD-2E52D1701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D3E97-A65C-C56A-7EBE-0BA75047C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b="1" dirty="0"/>
              <a:t>To write this code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b="1" dirty="0"/>
              <a:t>protected</a:t>
            </a:r>
            <a:r>
              <a:rPr lang="en-IN" dirty="0"/>
              <a:t> </a:t>
            </a:r>
            <a:r>
              <a:rPr lang="en-IN" b="1" dirty="0"/>
              <a:t>void</a:t>
            </a:r>
            <a:r>
              <a:rPr lang="en-IN" dirty="0"/>
              <a:t> </a:t>
            </a:r>
            <a:r>
              <a:rPr lang="en-IN" dirty="0" err="1"/>
              <a:t>doGet</a:t>
            </a:r>
            <a:r>
              <a:rPr lang="en-IN" dirty="0"/>
              <a:t>(</a:t>
            </a:r>
            <a:r>
              <a:rPr lang="en-IN" dirty="0" err="1"/>
              <a:t>HttpServletRequest</a:t>
            </a:r>
            <a:r>
              <a:rPr lang="en-IN" dirty="0"/>
              <a:t> request, </a:t>
            </a:r>
            <a:r>
              <a:rPr lang="en-IN" dirty="0" err="1"/>
              <a:t>HttpServletResponse</a:t>
            </a:r>
            <a:r>
              <a:rPr lang="en-IN" dirty="0"/>
              <a:t> response) </a:t>
            </a:r>
            <a:r>
              <a:rPr lang="en-IN" b="1" dirty="0"/>
              <a:t>throws</a:t>
            </a:r>
            <a:r>
              <a:rPr lang="en-IN" dirty="0"/>
              <a:t> </a:t>
            </a:r>
            <a:r>
              <a:rPr lang="en-IN" dirty="0" err="1"/>
              <a:t>ServletException</a:t>
            </a:r>
            <a:r>
              <a:rPr lang="en-IN" dirty="0"/>
              <a:t>, </a:t>
            </a:r>
            <a:r>
              <a:rPr lang="en-IN" dirty="0" err="1"/>
              <a:t>IOException</a:t>
            </a:r>
            <a:r>
              <a:rPr lang="en-IN" dirty="0"/>
              <a:t> 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dirty="0" err="1"/>
              <a:t>response.setContentType</a:t>
            </a:r>
            <a:r>
              <a:rPr lang="en-IN" dirty="0"/>
              <a:t>("text/html");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dirty="0" err="1"/>
              <a:t>PrintWriter</a:t>
            </a:r>
            <a:r>
              <a:rPr lang="en-IN" dirty="0"/>
              <a:t> out = </a:t>
            </a:r>
            <a:r>
              <a:rPr lang="en-IN" dirty="0" err="1"/>
              <a:t>response.getWriter</a:t>
            </a:r>
            <a:r>
              <a:rPr lang="en-IN" dirty="0"/>
              <a:t>();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dirty="0" err="1"/>
              <a:t>out.println</a:t>
            </a:r>
            <a:r>
              <a:rPr lang="en-IN" dirty="0"/>
              <a:t>("&lt;h1&gt;Hello Kokila!&lt;/h1&gt;");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dirty="0"/>
              <a:t>}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dirty="0"/>
              <a:t>Output is in h1 format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dirty="0"/>
              <a:t>Hello Kokila 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16423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D3BC8-28AD-8747-D112-243C84BD2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8569A-1CCB-1ABF-F051-2A922227F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IN" b="1" dirty="0"/>
              <a:t>Why this output?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dirty="0"/>
              <a:t>Inside your </a:t>
            </a:r>
            <a:r>
              <a:rPr lang="en-IN" dirty="0" err="1"/>
              <a:t>doGet</a:t>
            </a:r>
            <a:r>
              <a:rPr lang="en-IN" dirty="0"/>
              <a:t>():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dirty="0" err="1"/>
              <a:t>PrintWriter</a:t>
            </a:r>
            <a:r>
              <a:rPr lang="en-IN" dirty="0"/>
              <a:t> out = </a:t>
            </a:r>
            <a:r>
              <a:rPr lang="en-IN" dirty="0" err="1"/>
              <a:t>response.getWriter</a:t>
            </a:r>
            <a:r>
              <a:rPr lang="en-IN" dirty="0"/>
              <a:t>();</a:t>
            </a:r>
            <a:br>
              <a:rPr lang="en-IN" dirty="0"/>
            </a:br>
            <a:r>
              <a:rPr lang="en-IN" dirty="0" err="1"/>
              <a:t>out.println</a:t>
            </a:r>
            <a:r>
              <a:rPr lang="en-IN" dirty="0"/>
              <a:t>("&lt;h1&gt;Hello Kokila!&lt;/h1&gt;");</a:t>
            </a:r>
          </a:p>
          <a:p>
            <a:pPr>
              <a:lnSpc>
                <a:spcPct val="150000"/>
              </a:lnSpc>
            </a:pPr>
            <a:r>
              <a:rPr lang="en-IN" dirty="0" err="1"/>
              <a:t>setContentType</a:t>
            </a:r>
            <a:r>
              <a:rPr lang="en-IN" dirty="0"/>
              <a:t>("text/html") → tells browser it's HTML </a:t>
            </a:r>
          </a:p>
          <a:p>
            <a:pPr>
              <a:lnSpc>
                <a:spcPct val="150000"/>
              </a:lnSpc>
            </a:pPr>
            <a:r>
              <a:rPr lang="en-IN" dirty="0"/>
              <a:t>&lt;h1&gt; → displays </a:t>
            </a:r>
            <a:r>
              <a:rPr lang="en-IN" b="1" dirty="0"/>
              <a:t>big heading</a:t>
            </a:r>
            <a:r>
              <a:rPr lang="en-IN" dirty="0"/>
              <a:t> </a:t>
            </a:r>
          </a:p>
          <a:p>
            <a:pPr>
              <a:lnSpc>
                <a:spcPct val="150000"/>
              </a:lnSpc>
            </a:pPr>
            <a:r>
              <a:rPr lang="en-IN" dirty="0"/>
              <a:t>So browser renders it as a webpage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18185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EE4D2-F2D0-9794-70A3-C09635A4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3AF78-D633-B67B-3F19-531176171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61998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D1477-9848-6042-1338-BABD1810A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A8A0D-07F2-C712-8098-C0D3119CE7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68023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D5687-735D-E185-0E04-CA7EC4AF3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235D3-080D-D3AA-0BFE-4AF69BCC9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8910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3DDD8-ABBB-F157-7B5A-973D627DF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5B70D-003A-7BDB-5C6A-4251D8FDB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0451"/>
            <a:ext cx="10515600" cy="5606512"/>
          </a:xfr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5169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</TotalTime>
  <Words>1330</Words>
  <Application>Microsoft Office PowerPoint</Application>
  <PresentationFormat>Widescreen</PresentationFormat>
  <Paragraphs>226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Arial</vt:lpstr>
      <vt:lpstr>Calibri</vt:lpstr>
      <vt:lpstr>Calibri Light</vt:lpstr>
      <vt:lpstr>Wingdings</vt:lpstr>
      <vt:lpstr>Office Theme</vt:lpstr>
      <vt:lpstr>Advanced Java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Sasikumar Janarthanan</dc:creator>
  <cp:lastModifiedBy>Sasikumar Janarthanan</cp:lastModifiedBy>
  <cp:revision>7</cp:revision>
  <dcterms:created xsi:type="dcterms:W3CDTF">2026-04-22T11:11:23Z</dcterms:created>
  <dcterms:modified xsi:type="dcterms:W3CDTF">2026-04-28T10:47:41Z</dcterms:modified>
</cp:coreProperties>
</file>